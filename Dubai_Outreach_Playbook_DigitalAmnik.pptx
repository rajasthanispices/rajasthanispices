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</a:rPr>
              <a:t>DIGITAL AMNIK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Dubai Outreach Playbook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Which businesses to target • What problem to solve • How to reach 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468880" cy="1005840"/>
          </a:xfrm>
          <a:prstGeom prst="rect">
            <a:avLst>
              <a:gd name="adj" fmla="val 7273"/>
            </a:avLst>
          </a:prstGeom>
          <a:solidFill>
            <a:srgbClr val="1E2A3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07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AED 8.5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64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per qualified lead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2468880" cy="1005840"/>
          </a:xfrm>
          <a:prstGeom prst="rect">
            <a:avLst>
              <a:gd name="adj" fmla="val 7273"/>
            </a:avLst>
          </a:prstGeom>
          <a:solidFill>
            <a:srgbClr val="1E2A3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907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10–15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364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site visits/month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2468880" cy="1005840"/>
          </a:xfrm>
          <a:prstGeom prst="rect">
            <a:avLst>
              <a:gd name="adj" fmla="val 7273"/>
            </a:avLst>
          </a:prstGeom>
          <a:solidFill>
            <a:srgbClr val="1E2A3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907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3 months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364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to see results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For: Sales Team — Dubai Outreach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THE REAL PROBLEM IN DUBAI MARKETING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Everyone is selling leads.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Nobody is solving conversion.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8046720" cy="530352"/>
          </a:xfrm>
          <a:prstGeom prst="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2A2A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288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0C0"/>
                </a:solidFill>
              </a:rPr>
              <a:t>Leads come in — sales team calls — no answer — lead dies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8046720" cy="530352"/>
          </a:xfrm>
          <a:prstGeom prst="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2A2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871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4871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0C0"/>
                </a:solidFill>
              </a:rPr>
              <a:t>Viral reels get views but zero qualified enquiries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046720" cy="530352"/>
          </a:xfrm>
          <a:prstGeom prst="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2A2A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45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455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0C0"/>
                </a:solidFill>
              </a:rPr>
              <a:t>100 calls/day but only 5 quality conversations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8046720" cy="530352"/>
          </a:xfrm>
          <a:prstGeom prst="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2A2A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039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0390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0C0"/>
                </a:solidFill>
              </a:rPr>
              <a:t>Marketing agency reports impressions, not revenue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This is not a leads problem. This is a system problem.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Revenue Conversion Blueprint™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371600"/>
          </a:xfrm>
          <a:prstGeom prst="rect">
            <a:avLst>
              <a:gd name="adj" fmla="val 5333"/>
            </a:avLst>
          </a:prstGeom>
          <a:solidFill>
            <a:srgbClr val="151F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84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Viral Content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2768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Content that attracts buyers, not just viewers. Property benefits shown clearly — not fast edits.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3931920" cy="1371600"/>
          </a:xfrm>
          <a:prstGeom prst="rect">
            <a:avLst>
              <a:gd name="adj" fmla="val 5333"/>
            </a:avLst>
          </a:prstGeom>
          <a:solidFill>
            <a:srgbClr val="151F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82312" y="1618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82312" y="1984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Precision Lead Gen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2768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Multi-platform ads. Only verified, interested buyers see your ads. No junk traffic.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371600"/>
          </a:xfrm>
          <a:prstGeom prst="rect">
            <a:avLst>
              <a:gd name="adj" fmla="val 5333"/>
            </a:avLst>
          </a:prstGeom>
          <a:solidFill>
            <a:srgbClr val="151F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218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Lead Nurture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877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Every lead auto-qualified via WhatsApp AI the moment they enquire. 24/7, no human needed.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108960"/>
            <a:ext cx="3931920" cy="1371600"/>
          </a:xfrm>
          <a:prstGeom prst="rect">
            <a:avLst>
              <a:gd name="adj" fmla="val 5333"/>
            </a:avLst>
          </a:prstGeom>
          <a:solidFill>
            <a:srgbClr val="151F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82312" y="3218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782312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Ready Pipeline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82312" y="3877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Sales team gets 40 filtered, ready-to-talk leads — not 100 cold names to chase.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TARGET BUSINESSES — DUBAI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Businesses spending AED 4,000–12,000/month on marketing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417320"/>
          </a:xfrm>
          <a:prstGeom prst="rect">
            <a:avLst>
              <a:gd name="adj" fmla="val 5161"/>
            </a:avLst>
          </a:prstGeom>
          <a:solidFill>
            <a:srgbClr val="151F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07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</a:rPr>
              <a:t>PRIORITY 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19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Estate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AED 8–15k/mo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1417320"/>
          </a:xfrm>
          <a:prstGeom prst="rect">
            <a:avLst>
              <a:gd name="adj" fmla="val 5161"/>
            </a:avLst>
          </a:prstGeom>
          <a:solidFill>
            <a:srgbClr val="151F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307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D9E75"/>
                </a:solidFill>
              </a:rPr>
              <a:t>PRIORITY 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1719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Clinics &amp; Healthcare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AED 4–8k/mo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1417320"/>
          </a:xfrm>
          <a:prstGeom prst="rect">
            <a:avLst>
              <a:gd name="adj" fmla="val 5161"/>
            </a:avLst>
          </a:prstGeom>
          <a:solidFill>
            <a:srgbClr val="151F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307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D9E75"/>
                </a:solidFill>
              </a:rPr>
              <a:t>PRIORITY 2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1719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Luxury Yacht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AED 6–12k/mo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2651760" cy="1417320"/>
          </a:xfrm>
          <a:prstGeom prst="rect">
            <a:avLst>
              <a:gd name="adj" fmla="val 5161"/>
            </a:avLst>
          </a:prstGeom>
          <a:solidFill>
            <a:srgbClr val="151F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2953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78D6"/>
                </a:solidFill>
              </a:rPr>
              <a:t>PRIORITY 3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Luxury Car Rental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703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AED 5–10k/mo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834640"/>
            <a:ext cx="2651760" cy="1417320"/>
          </a:xfrm>
          <a:prstGeom prst="rect">
            <a:avLst>
              <a:gd name="adj" fmla="val 5161"/>
            </a:avLst>
          </a:prstGeom>
          <a:solidFill>
            <a:srgbClr val="151F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01568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🌸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2953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78D6"/>
                </a:solidFill>
              </a:rPr>
              <a:t>PRIORITY 3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401568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Perfume Brands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01568" y="3703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AED 4–8k/mo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834640"/>
            <a:ext cx="2651760" cy="1417320"/>
          </a:xfrm>
          <a:prstGeom prst="rect">
            <a:avLst>
              <a:gd name="adj" fmla="val 5161"/>
            </a:avLst>
          </a:prstGeom>
          <a:solidFill>
            <a:srgbClr val="151F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6208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2953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78D6"/>
                </a:solidFill>
              </a:rPr>
              <a:t>PRIORITY 3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Restaurants &amp; Cafes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703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AED 3–6k/mo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NICHE DEEP DIVE — REAL ESTATE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Their #1 pain: Leads that ghost. Our fix: System that pre-qualifies.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THEIR CHALLENGES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840480" cy="530352"/>
          </a:xfrm>
          <a:prstGeom prst="rect">
            <a:avLst>
              <a:gd name="adj" fmla="val 10345"/>
            </a:avLst>
          </a:prstGeom>
          <a:solidFill>
            <a:srgbClr val="1A1525"/>
          </a:solidFill>
          <a:ln w="6350">
            <a:solidFill>
              <a:srgbClr val="2A25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727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0B8"/>
                </a:solidFill>
              </a:rPr>
              <a:t>→  Hundreds of enquiries, very few site visits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0" cy="530352"/>
          </a:xfrm>
          <a:prstGeom prst="rect">
            <a:avLst>
              <a:gd name="adj" fmla="val 10345"/>
            </a:avLst>
          </a:prstGeom>
          <a:solidFill>
            <a:srgbClr val="1A1525"/>
          </a:solidFill>
          <a:ln w="6350">
            <a:solidFill>
              <a:srgbClr val="2A25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311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0B8"/>
                </a:solidFill>
              </a:rPr>
              <a:t>→  Sales team wastes time on unqualified leads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3840480" cy="530352"/>
          </a:xfrm>
          <a:prstGeom prst="rect">
            <a:avLst>
              <a:gd name="adj" fmla="val 10345"/>
            </a:avLst>
          </a:prstGeom>
          <a:solidFill>
            <a:srgbClr val="1A1525"/>
          </a:solidFill>
          <a:ln w="6350">
            <a:solidFill>
              <a:srgbClr val="2A25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8895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0B8"/>
                </a:solidFill>
              </a:rPr>
              <a:t>→  High ad spend, low ROI visibility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3840480" cy="530352"/>
          </a:xfrm>
          <a:prstGeom prst="rect">
            <a:avLst>
              <a:gd name="adj" fmla="val 10345"/>
            </a:avLst>
          </a:prstGeom>
          <a:solidFill>
            <a:srgbClr val="1A1525"/>
          </a:solidFill>
          <a:ln w="6350">
            <a:solidFill>
              <a:srgbClr val="2A25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478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0B8"/>
                </a:solidFill>
              </a:rPr>
              <a:t>→  No system to track lead-to-sale journey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</a:rPr>
              <a:t>WHAT WE DELIVER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3931920" cy="530352"/>
          </a:xfrm>
          <a:prstGeom prst="rect">
            <a:avLst>
              <a:gd name="adj" fmla="val 10345"/>
            </a:avLst>
          </a:prstGeom>
          <a:solidFill>
            <a:srgbClr val="0F1F18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5727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B8"/>
                </a:solidFill>
              </a:rPr>
              <a:t>✓  Viral property content — buyer mindset, not just aesthetics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3931920" cy="530352"/>
          </a:xfrm>
          <a:prstGeom prst="rect">
            <a:avLst>
              <a:gd name="adj" fmla="val 10345"/>
            </a:avLst>
          </a:prstGeom>
          <a:solidFill>
            <a:srgbClr val="0F1F18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2311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B8"/>
                </a:solidFill>
              </a:rPr>
              <a:t>✓  Multi-platform lead gen — Meta, Google, YouTube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25496"/>
            <a:ext cx="3931920" cy="530352"/>
          </a:xfrm>
          <a:prstGeom prst="rect">
            <a:avLst>
              <a:gd name="adj" fmla="val 10345"/>
            </a:avLst>
          </a:prstGeom>
          <a:solidFill>
            <a:srgbClr val="0F1F18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8895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B8"/>
                </a:solidFill>
              </a:rPr>
              <a:t>✓  AI WhatsApp bot qualifies leads instantly, 24/7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483864"/>
            <a:ext cx="3931920" cy="530352"/>
          </a:xfrm>
          <a:prstGeom prst="rect">
            <a:avLst>
              <a:gd name="adj" fmla="val 10345"/>
            </a:avLst>
          </a:prstGeom>
          <a:solidFill>
            <a:srgbClr val="0F1F18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5478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B8"/>
                </a:solidFill>
              </a:rPr>
              <a:t>✓  40 ready-to-close leads vs 100 cold calls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02920"/>
          </a:xfrm>
          <a:prstGeom prst="rect">
            <a:avLst>
              <a:gd name="adj" fmla="val 10909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Our result: ₹6.5Cr inventory sold in 3 months  |  AED 8.5 per qualified lead  |  10–15 site visits/month guaranteed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OUTREACH MESSAGES — INSTAGRAM DM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Not a pitch. A problem observation.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840480" cy="2331720"/>
          </a:xfrm>
          <a:prstGeom prst="rect">
            <a:avLst>
              <a:gd name="adj" fmla="val 3137"/>
            </a:avLst>
          </a:prstGeom>
          <a:solidFill>
            <a:srgbClr val="151F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</a:rPr>
              <a:t>🏢  REAL ESTATE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81328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C8D8"/>
                </a:solidFill>
              </a:rPr>
              <a:t>Hi [Name] —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C8D8"/>
                </a:solidFill>
              </a:rPr>
              <a:t>Quick question — how many of your daily leads actually show up for a site visit?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C8D8"/>
                </a:solidFill>
              </a:rPr>
              <a:t>We build a system where viral content attracts serious buyers, AI pre-qualifies every enquiry, and your sales team only handles visit-ready leads.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C8D8"/>
                </a:solidFill>
              </a:rPr>
              <a:t>We did AED 8.5/qualified lead for a high-rise project. Worth a 10-min call?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3931920" cy="2331720"/>
          </a:xfrm>
          <a:prstGeom prst="rect">
            <a:avLst>
              <a:gd name="adj" fmla="val 3137"/>
            </a:avLst>
          </a:prstGeom>
          <a:solidFill>
            <a:srgbClr val="0F1F18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9E75"/>
                </a:solidFill>
              </a:rPr>
              <a:t>🏥  CLINIC / HEALTHCARE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48132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C8B8"/>
                </a:solidFill>
              </a:rPr>
              <a:t>Hi [Name] —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C8B8"/>
                </a:solidFill>
              </a:rPr>
              <a:t>Most clinics in Dubai run ads and get enquiries — but 70% of those leads never book an appointment.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C8B8"/>
                </a:solidFill>
              </a:rPr>
              <a:t>We build an automated system that captures every enquiry, pre-qualifies the patient, and books the appointment directly — no receptionist follow-up needed.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C8B8"/>
                </a:solidFill>
              </a:rPr>
              <a:t>Happy to show you how in 10 minutes?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3840480" cy="1417320"/>
          </a:xfrm>
          <a:prstGeom prst="rect">
            <a:avLst>
              <a:gd name="adj" fmla="val 5161"/>
            </a:avLst>
          </a:prstGeom>
          <a:solidFill>
            <a:srgbClr val="1A1525"/>
          </a:solidFill>
          <a:ln w="6350">
            <a:solidFill>
              <a:srgbClr val="8B6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A0FF"/>
                </a:solidFill>
              </a:rPr>
              <a:t>⛵  LUXURY (YACHT / CAR RENTAL)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31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B0D8"/>
                </a:solidFill>
              </a:rPr>
              <a:t>Hi [Name] — Dubai has thousands of tourists looking for luxury experiences. Most brands here only post "Book Now." We build content that sells the experience — and leads that actually convert. Quick chat?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547872"/>
            <a:ext cx="3931920" cy="1417320"/>
          </a:xfrm>
          <a:prstGeom prst="rect">
            <a:avLst>
              <a:gd name="adj" fmla="val 5161"/>
            </a:avLst>
          </a:prstGeom>
          <a:solidFill>
            <a:srgbClr val="1F1510"/>
          </a:solidFill>
          <a:ln w="6350">
            <a:solidFill>
              <a:srgbClr val="E8A0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6A"/>
                </a:solidFill>
              </a:rPr>
              <a:t>🍽️  RESTAURANT / CAFE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B898"/>
                </a:solidFill>
              </a:rPr>
              <a:t>Hi [Name] — most restaurants here spend on reels but see no direct reservation increase. We build a content + lead nurture system that turns viewers into bookings. Worked for 3 F&amp;B brands already. 10 min?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HOW TO FIND THEM ON INSTAGRAM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Step-by-step prospecting method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52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by hashtag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2646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#DubaiRealEstate #DubaiClinic #DubaiLuxury #DubaiYacht #DubaiRestaurant — look at "Top Posts"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8229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29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11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Look at their bio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85416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Business account + 1k–50k followers + posting regularly = ideal prospect. Check if they run ads (Sponsored posts visible).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88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their content quality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94436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If their content is average but business looks strong — they need you. If content is great but has no leads system — they still need you.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229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447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DM within 5 min of following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70332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Follow → wait 2 min → DM. Do not like 10 posts first — looks like a bot. One natural DM, problem-first, no pitch.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33088"/>
            <a:ext cx="8229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206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Daily target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46227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15–20 DMs/day. Track in a sheet: Name | Category | DM sent | Response | Follow-up date.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WHAT TO SELL — PACKAGES &amp; PRICING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4114800"/>
          </a:xfrm>
          <a:prstGeom prst="rect">
            <a:avLst>
              <a:gd name="adj" fmla="val 3279"/>
            </a:avLst>
          </a:prstGeom>
          <a:solidFill>
            <a:srgbClr val="151F0A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4048" y="932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</a:rPr>
              <a:t>FULL SYSTEM — FLAGSHIP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 Conversion Blueprint™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AED 4,000–5,500/mo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2176272"/>
            <a:ext cx="256032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Viral content (8 reels/month)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651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Multi-platform lead gen ads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30358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AI WhatsApp chatbot + CRM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34198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Lead nurture + filtering system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38039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Monthly ROI report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822960"/>
            <a:ext cx="2788920" cy="4114800"/>
          </a:xfrm>
          <a:prstGeom prst="rect">
            <a:avLst>
              <a:gd name="adj" fmla="val 3279"/>
            </a:avLst>
          </a:prstGeom>
          <a:solidFill>
            <a:srgbClr val="0F1F18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0128" y="932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D9E75"/>
                </a:solidFill>
              </a:rPr>
              <a:t>ENTRY POINT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Lead Engine Pack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AED 2,000–3,000/mo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0128" y="2176272"/>
            <a:ext cx="2560320" cy="1828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10128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Meta + Google ads management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10128" y="2651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WhatsApp CRM setup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310128" y="30358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Landing page + creatives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10128" y="34198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Weekly lead report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822960"/>
            <a:ext cx="2788920" cy="4114800"/>
          </a:xfrm>
          <a:prstGeom prst="rect">
            <a:avLst>
              <a:gd name="adj" fmla="val 3279"/>
            </a:avLst>
          </a:prstGeom>
          <a:solidFill>
            <a:srgbClr val="1A1525"/>
          </a:solidFill>
          <a:ln w="10160">
            <a:solidFill>
              <a:srgbClr val="8B6A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932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6AE8"/>
                </a:solidFill>
              </a:rPr>
              <a:t>PERSONAL BRAND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Founder Brand Pack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AE8"/>
                </a:solidFill>
              </a:rPr>
              <a:t>AED 2,500–3,500/mo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36208" y="2176272"/>
            <a:ext cx="2560320" cy="18288"/>
          </a:xfrm>
          <a:prstGeom prst="rect">
            <a:avLst/>
          </a:prstGeom>
          <a:solidFill>
            <a:srgbClr val="8B6AE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36208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8–12 reels/month (scripted, shot, edited)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2651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Instagram + LinkedIn management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30358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Content strategy + hooks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34198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0A0"/>
                </a:solidFill>
              </a:rPr>
              <a:t>→  Optional: Boosted ads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70"/>
                </a:solidFill>
              </a:rPr>
              <a:t>Tip for sales team: Always pitch the flagship. If they hesitate, offer Lead Engine as entry. Never start below AED 2,000.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DAILY SOP — SALES TEAM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What to do every single 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051560" cy="640080"/>
          </a:xfrm>
          <a:prstGeom prst="rect">
            <a:avLst>
              <a:gd name="adj" fmla="val 8571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88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9:00 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051560"/>
            <a:ext cx="7086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1106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Find 20 prospects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380744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Instagram hashtag search — Real estate, clinic, yacht, car rental, restaurant. Save to tracking sheet.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19656"/>
            <a:ext cx="1051560" cy="640080"/>
          </a:xfrm>
          <a:prstGeom prst="rect">
            <a:avLst>
              <a:gd name="adj" fmla="val 8571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9568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10:00 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1819656"/>
            <a:ext cx="7086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Send 15–20 DMs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14884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Use the category-specific message template. Personalise [Name] + one detail from their profile.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051560" cy="640080"/>
          </a:xfrm>
          <a:prstGeom prst="rect">
            <a:avLst>
              <a:gd name="adj" fmla="val 8571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7249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12:00 PM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2587752"/>
            <a:ext cx="7086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37360" y="2642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Follow up on Day 2 leads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2916936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Anyone who opened but didn't reply — send one soft follow-up: "Just checking if this is relevant for you?"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55848"/>
            <a:ext cx="1051560" cy="640080"/>
          </a:xfrm>
          <a:prstGeom prst="rect">
            <a:avLst>
              <a:gd name="adj" fmla="val 8571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4930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3:00 PM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00200" y="3355848"/>
            <a:ext cx="7086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Engage before DMing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368503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For tomorrow's prospects — comment genuinely on 1 post each. Makes the DM feel warmer.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23944"/>
            <a:ext cx="1051560" cy="640080"/>
          </a:xfrm>
          <a:prstGeom prst="rect">
            <a:avLst>
              <a:gd name="adj" fmla="val 8571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42611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5:00 PM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00200" y="4123944"/>
            <a:ext cx="7086600" cy="640080"/>
          </a:xfrm>
          <a:prstGeom prst="rect">
            <a:avLst>
              <a:gd name="adj" fmla="val 8571"/>
            </a:avLst>
          </a:prstGeom>
          <a:solidFill>
            <a:srgbClr val="141E2E"/>
          </a:solidFill>
          <a:ln w="6350">
            <a:solidFill>
              <a:srgbClr val="1E2E3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37360" y="4178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tracking sheet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4453128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Log: DMs sent / Replies / Calls booked / Converted. Weekly report to Amaan every Friday.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Target: 5 calls booked per week → 2 proposals sent → 1 client closed per month minimum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C9A84C"/>
                </a:solidFill>
              </a:rPr>
              <a:t>DIGITAL AMNIK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Revenue Conversion Blueprint™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We don't just bring leads.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We build the system that converts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1188720"/>
          </a:xfrm>
          <a:prstGeom prst="rect">
            <a:avLst>
              <a:gd name="adj" fmla="val 7692"/>
            </a:avLst>
          </a:prstGeom>
          <a:solidFill>
            <a:srgbClr val="1A1505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34015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📧  hello@digitalamnik.com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730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🌐  digitalamnik.com  |  📍  Kota, India  •  Dubai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2026-09-28T07:16:54Z</dcterms:created>
  <dcterms:modified xsi:type="dcterms:W3CDTF">2026-09-28T07:16:54Z</dcterms:modified>
</cp:coreProperties>
</file>